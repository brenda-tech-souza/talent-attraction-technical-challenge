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Average"/>
      <p:regular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D8B114-6860-4165-BBE3-5D6DD8F89D33}">
  <a:tblStyle styleId="{5DD8B114-6860-4165-BBE3-5D6DD8F89D3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verage-regular.fntdata"/><Relationship Id="rId11" Type="http://schemas.openxmlformats.org/officeDocument/2006/relationships/slide" Target="slides/slide5.xml"/><Relationship Id="rId22" Type="http://schemas.openxmlformats.org/officeDocument/2006/relationships/font" Target="fonts/Oswald-bold.fntdata"/><Relationship Id="rId10" Type="http://schemas.openxmlformats.org/officeDocument/2006/relationships/slide" Target="slides/slide4.xml"/><Relationship Id="rId21" Type="http://schemas.openxmlformats.org/officeDocument/2006/relationships/font" Target="fonts/Oswal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7688aaa6_0_5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7688aaa6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1e5d75b4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1e5d75b4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e5d75b4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e5d75b4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1e5d75b44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1e5d75b4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1e5d75b44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1e5d75b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1e5d75b44_0_5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1e5d75b4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1e5d75b44_0_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1e5d75b4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1e5d75b44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1e5d75b4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1e5d75b44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1e5d75b4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e5d75b44_0_10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1e5d75b4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07688aaa6_0_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07688aaa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Challenge 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July 2, 2026</a:t>
            </a:r>
            <a:endParaRPr/>
          </a:p>
        </p:txBody>
      </p:sp>
      <p:sp>
        <p:nvSpPr>
          <p:cNvPr id="61" name="Google Shape;61;p13"/>
          <p:cNvSpPr txBox="1"/>
          <p:nvPr>
            <p:ph idx="1" type="subTitle"/>
          </p:nvPr>
        </p:nvSpPr>
        <p:spPr>
          <a:xfrm>
            <a:off x="155750" y="39674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Company: CloudWalk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Role: Talent Attraction Analyst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Candidate: Brenda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Recruitment Funnel Analysis – Executive Summary</a:t>
            </a:r>
            <a:endParaRPr/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objective of this analysis was to identify the factors that most influence candidate progression throughout the recruitment funnel and to provide actionable recommendations for improving hiring efficiency.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5"/>
          <p:cNvGraphicFramePr/>
          <p:nvPr/>
        </p:nvGraphicFramePr>
        <p:xfrm>
          <a:off x="263425" y="97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{5DD8B114-6860-4165-BBE3-5D6DD8F89D33}</a:tableStyleId>
              </a:tblPr>
              <a:tblGrid>
                <a:gridCol w="3190675"/>
                <a:gridCol w="1839875"/>
                <a:gridCol w="908300"/>
                <a:gridCol w="2678300"/>
              </a:tblGrid>
              <a:tr h="338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Source Channel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Candidates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Hires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Hire Conversion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GitHub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10.96%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Inbound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10.14%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Hunting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9.33%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Banco de Talentos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68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8.82%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LinkedIn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8.64%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Comunidade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89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7.87%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Eventos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82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4.88%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Indicação (Referrals)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64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4.69%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73" name="Google Shape;73;p15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Source Channels x Hires 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558300" y="210750"/>
            <a:ext cx="8027400" cy="4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Insights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1. GitHub delivers the highest quality candidates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10.96% hire conversion</a:t>
            </a:r>
            <a:r>
              <a:rPr lang="en" sz="1100"/>
              <a:t>, the best among all sourcing channels.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Also achieved the </a:t>
            </a:r>
            <a:r>
              <a:rPr b="1" lang="en" sz="1100"/>
              <a:t>highest offer rate (15.1%)</a:t>
            </a:r>
            <a:r>
              <a:rPr lang="en" sz="1100"/>
              <a:t>, indicating candidates sourced through GitHub consistently progress through the hiring funnel.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This suggests GitHub sourcing reaches highly qualified technical talent that aligns well with hiring requirements.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Recommendations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Increase proactive sourcing on GitHub.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Train recruiters on advanced GitHub search techniques.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Combine GitHub sourcing with personalized outreach and employer branding targeted at developers.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2. Inbound candidates show strong hiring potential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10.14% hire conversion</a:t>
            </a:r>
            <a:r>
              <a:rPr lang="en" sz="1100"/>
              <a:t>, nearly matching GitHub.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Candidates likely arrive with greater interest in the company and better cultural alignment.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Recommendations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Invest further in employer branding.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Publish technical content, engineering blogs, webinars and employee stories.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Optimize career pages and simplify the application experience to increase qualified inbound traffic.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/>
        </p:nvSpPr>
        <p:spPr>
          <a:xfrm>
            <a:off x="558300" y="210750"/>
            <a:ext cx="8027400" cy="47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I</a:t>
            </a:r>
            <a:r>
              <a:rPr b="1" lang="en" sz="1300"/>
              <a:t>nsights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/>
              <a:t>3</a:t>
            </a:r>
            <a:r>
              <a:rPr b="1" lang="en" sz="1300"/>
              <a:t>. Events and Employee Referrals underperform</a:t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These channels produced the weakest hiring outcomes - .</a:t>
            </a:r>
            <a:r>
              <a:rPr b="1" lang="en" sz="1100"/>
              <a:t>4.88%</a:t>
            </a:r>
            <a:r>
              <a:rPr lang="en" sz="1100"/>
              <a:t> and </a:t>
            </a:r>
            <a:r>
              <a:rPr b="1" lang="en" sz="1100"/>
              <a:t>4.69%</a:t>
            </a:r>
            <a:r>
              <a:rPr lang="en" sz="1100"/>
              <a:t>, </a:t>
            </a:r>
            <a:r>
              <a:rPr lang="en" sz="1100"/>
              <a:t>respectively</a:t>
            </a:r>
            <a:r>
              <a:rPr lang="en" sz="1100"/>
              <a:t>.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Possible explanations:</a:t>
            </a:r>
            <a:endParaRPr sz="13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Low qualification before entering the funnel.</a:t>
            </a:r>
            <a:endParaRPr sz="11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Limited targeting.</a:t>
            </a:r>
            <a:endParaRPr sz="11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Referral program lacks incentives or clear communication.</a:t>
            </a:r>
            <a:endParaRPr sz="11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Events prioritize employer visibility over candidate qualification.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Recommendations</a:t>
            </a:r>
            <a:endParaRPr b="1" sz="1100"/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Reevaluate ROI of recruiting events.</a:t>
            </a:r>
            <a:endParaRPr sz="11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Refresh the employee referral program with better incentives and communication.</a:t>
            </a:r>
            <a:endParaRPr sz="1100"/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</a:pPr>
            <a:r>
              <a:rPr lang="en" sz="1100"/>
              <a:t>Track referral quality by employee or department.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What signals indicate a higher chance of advancing?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303550" y="674600"/>
            <a:ext cx="83814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data suggests that candidates are significantly more likely to advance when they demonstrate both early engagement and strong performance throughout the selection process. The strongest predictive signals include: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Responding to recruiter outreach (</a:t>
            </a:r>
            <a:r>
              <a:rPr b="1" lang="en" sz="1100"/>
              <a:t>11.8% hire rate</a:t>
            </a:r>
            <a:r>
              <a:rPr lang="en" sz="1100"/>
              <a:t>).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Passing recruiter screening (</a:t>
            </a:r>
            <a:r>
              <a:rPr b="1" lang="en" sz="1100"/>
              <a:t>15.9% hire rate</a:t>
            </a:r>
            <a:r>
              <a:rPr lang="en" sz="1100"/>
              <a:t>).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Passing the first interview (</a:t>
            </a:r>
            <a:r>
              <a:rPr b="1" lang="en" sz="1100"/>
              <a:t>20.9% hire rate</a:t>
            </a:r>
            <a:r>
              <a:rPr lang="en" sz="1100"/>
              <a:t>).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Completing the technical assessment (</a:t>
            </a:r>
            <a:r>
              <a:rPr b="1" lang="en" sz="1100"/>
              <a:t>24.4% hire rate</a:t>
            </a:r>
            <a:r>
              <a:rPr lang="en" sz="1100"/>
              <a:t>).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Achieving higher technical, behavioral, and hiring manager scores (approximately </a:t>
            </a:r>
            <a:r>
              <a:rPr b="1" lang="en" sz="1100"/>
              <a:t>7–10 points higher</a:t>
            </a:r>
            <a:r>
              <a:rPr lang="en" sz="1100"/>
              <a:t> than non-hired candidates).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Having greater seniority and professional experience.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Recommendations</a:t>
            </a:r>
            <a:endParaRPr b="1" sz="17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Increase candidate engagement through personalized outreach and faster follow-ups.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Prioritize candidates who exhibit strong early engagement, as response behavior is an effective leading indicator of pipeline success.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Continuously monitor funnel conversion metrics to identify where high-potential candidates are being lost and optimize each stage accordingly.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When is it worth persisting with a candidate?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303550" y="674600"/>
            <a:ext cx="83814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data indicates that persistence is most valuable after candidates demonstrate reciprocal commitment. Recruiters should focus their time on candidates who: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Respond to initial outreach (</a:t>
            </a:r>
            <a:r>
              <a:rPr b="1" lang="en" sz="1100"/>
              <a:t>11.8% hire rate</a:t>
            </a:r>
            <a:r>
              <a:rPr lang="en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Successfully pass recruiter screening (</a:t>
            </a:r>
            <a:r>
              <a:rPr b="1" lang="en" sz="1100"/>
              <a:t>15.9% hire rate</a:t>
            </a:r>
            <a:r>
              <a:rPr lang="en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Advance through the first interview (</a:t>
            </a:r>
            <a:r>
              <a:rPr b="1" lang="en" sz="1100"/>
              <a:t>20.9% hire rate</a:t>
            </a:r>
            <a:r>
              <a:rPr lang="en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Complete the technical assessment (</a:t>
            </a:r>
            <a:r>
              <a:rPr b="1" lang="en" sz="1100"/>
              <a:t>24.4% hire rate</a:t>
            </a:r>
            <a:r>
              <a:rPr lang="en" sz="1100"/>
              <a:t>).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Reach the offer stage, where conversion rises to </a:t>
            </a:r>
            <a:r>
              <a:rPr b="1" lang="en" sz="1100"/>
              <a:t>79.0%</a:t>
            </a:r>
            <a:r>
              <a:rPr lang="en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Conversely, the dataset provides little evidence that continued effort yields meaningful results for candidates who never engage or fail to progress through these key stages.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To maximize recruiter productivity and improve overall conversion, implement a data-driven persistence strategy: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Prioritize recruiter follow-ups for candidates who respond and continue advancing through the funnel.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Introduce structured nurture campaigns (automated reminders, personalized check-ins, and interview preparation) for candidates who pass screening and interviews.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Define clear disengagement criteria for unresponsive candidates (e.g., after three personalized outreach attempts), allowing recruiters to redirect effort toward higher-potential talent.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Monitor engagement metrics alongside funnel progression to identify the point at which additional recruiter effort is most likely to influence hiring outcomes.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When is there a low probability of conversion?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graphicFrame>
        <p:nvGraphicFramePr>
          <p:cNvPr id="101" name="Google Shape;101;p20"/>
          <p:cNvGraphicFramePr/>
          <p:nvPr/>
        </p:nvGraphicFramePr>
        <p:xfrm>
          <a:off x="448775" y="81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{5DD8B114-6860-4165-BBE3-5D6DD8F89D33}</a:tableStyleId>
              </a:tblPr>
              <a:tblGrid>
                <a:gridCol w="4495850"/>
                <a:gridCol w="1293800"/>
                <a:gridCol w="638725"/>
                <a:gridCol w="1815900"/>
              </a:tblGrid>
              <a:tr h="343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Risk Indicator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Candidates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Hires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Hire Conversion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No response to recruiter outreach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193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0.5%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Failed recruiter screening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293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0.0%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Failed first interview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367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0.0%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Did not complete the technical assessment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400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0.0%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Not reaching the Offer stage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539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0.0%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20"/>
          <p:cNvSpPr txBox="1"/>
          <p:nvPr/>
        </p:nvSpPr>
        <p:spPr>
          <a:xfrm>
            <a:off x="617400" y="3256750"/>
            <a:ext cx="7909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The dataset indicates that </a:t>
            </a:r>
            <a:r>
              <a:rPr b="1" lang="en" sz="1100"/>
              <a:t>low conversion is strongly associated with disengagement and early-stage rejection</a:t>
            </a:r>
            <a:r>
              <a:rPr lang="en" sz="1100"/>
              <a:t>. Candidates who do not respond to recruiter outreach convert at only </a:t>
            </a:r>
            <a:r>
              <a:rPr b="1" lang="en" sz="1100"/>
              <a:t>0.5%</a:t>
            </a:r>
            <a:r>
              <a:rPr lang="en" sz="1100"/>
              <a:t>, while candidates who fail recruiter screening, the first interview, or do not complete the technical assessment show virtually </a:t>
            </a:r>
            <a:r>
              <a:rPr b="1" lang="en" sz="1100"/>
              <a:t>no chance of being hired</a:t>
            </a:r>
            <a:r>
              <a:rPr lang="en" sz="1100"/>
              <a:t>. Additionally, sourcing channels such as </a:t>
            </a:r>
            <a:r>
              <a:rPr b="1" lang="en" sz="1100"/>
              <a:t>Employee Referrals (4.69%)</a:t>
            </a:r>
            <a:r>
              <a:rPr lang="en" sz="1100"/>
              <a:t> and </a:t>
            </a:r>
            <a:r>
              <a:rPr b="1" lang="en" sz="1100"/>
              <a:t>Events (4.88%)</a:t>
            </a:r>
            <a:r>
              <a:rPr lang="en" sz="1100"/>
              <a:t> underperform compared to GitHub and Inbound sourcing. By prioritizing engaged candidates, strengthening early qualification, and reallocating sourcing efforts toward higher-performing channels, the recruitment team can improve overall hiring efficiency and increase end-to-end conversion rates.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Relevant patterns among channels, recruiters, and profiles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303550" y="674600"/>
            <a:ext cx="83814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The dataset reveals clear patterns across sourcing channels, candidate profiles, and funnel progression. While recruiter performance appears relatively consistent, candidate source and profile characteristics have a stronger impact on hiring outcomes.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Sourcing channels significantly influence hiring success.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GitHub, Inbound, and Hunting) generate nearly twice the hiring conversion compared to Events and Employee Referrals.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More experienced candidates advance further.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Seniority x Hire rate - </a:t>
            </a:r>
            <a:r>
              <a:rPr lang="en" sz="1100"/>
              <a:t>Junior (</a:t>
            </a:r>
            <a:r>
              <a:rPr b="1" lang="en" sz="1100"/>
              <a:t>4.6%)</a:t>
            </a:r>
            <a:r>
              <a:rPr lang="en" sz="1100"/>
              <a:t>, Mid level (</a:t>
            </a:r>
            <a:r>
              <a:rPr b="1" lang="en" sz="1100"/>
              <a:t>7%)</a:t>
            </a:r>
            <a:r>
              <a:rPr lang="en" sz="1100"/>
              <a:t>, Senior (</a:t>
            </a:r>
            <a:r>
              <a:rPr b="1" lang="en" sz="1100"/>
              <a:t>9.8%)</a:t>
            </a:r>
            <a:r>
              <a:rPr lang="en" sz="1100"/>
              <a:t>, Staff (</a:t>
            </a:r>
            <a:r>
              <a:rPr b="1" lang="en" sz="1100"/>
              <a:t>13.3%)</a:t>
            </a:r>
            <a:r>
              <a:rPr lang="en" sz="1100"/>
              <a:t>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Engagement predicts progression better than candidate source.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Responded to Outreach </a:t>
            </a:r>
            <a:r>
              <a:rPr b="1" lang="en" sz="1100"/>
              <a:t>11.8%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No response </a:t>
            </a:r>
            <a:r>
              <a:rPr b="1" lang="en" sz="1100"/>
              <a:t>0.5%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Regardless of sourcing channel, candidates who actively engage with recruiters are substantially more likely to progress through the hiring process. Engagement appears to be a stronger predictor of success than application source alone.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Relevant patterns among channels, recruiters, and profiles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303550" y="674600"/>
            <a:ext cx="83814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Performance during assessments follows a consistent pattern.</a:t>
            </a:r>
            <a:endParaRPr b="1"/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</p:txBody>
      </p:sp>
      <p:graphicFrame>
        <p:nvGraphicFramePr>
          <p:cNvPr id="115" name="Google Shape;115;p22"/>
          <p:cNvGraphicFramePr/>
          <p:nvPr/>
        </p:nvGraphicFramePr>
        <p:xfrm>
          <a:off x="455675" y="115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{5DD8B114-6860-4165-BBE3-5D6DD8F89D33}</a:tableStyleId>
              </a:tblPr>
              <a:tblGrid>
                <a:gridCol w="3580175"/>
                <a:gridCol w="1232500"/>
                <a:gridCol w="1092800"/>
              </a:tblGrid>
              <a:tr h="41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Evaluation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Hired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Not Hired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Technical Assessment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82.4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72.9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Behavioral Interview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80.1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74.0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Hiring Manager Evaluation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80.9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73.1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22"/>
          <p:cNvSpPr txBox="1"/>
          <p:nvPr/>
        </p:nvSpPr>
        <p:spPr>
          <a:xfrm>
            <a:off x="455675" y="2961825"/>
            <a:ext cx="7068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Successful candidates outperform non-hired candidates across every evaluation stage, suggesting that assessment scores are reliable predictors of hiring outcomes.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Relevant patterns among channels, recruiters, and profiles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2" name="Google Shape;122;p23"/>
          <p:cNvSpPr txBox="1"/>
          <p:nvPr/>
        </p:nvSpPr>
        <p:spPr>
          <a:xfrm>
            <a:off x="303550" y="674600"/>
            <a:ext cx="83814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Recruiter performance appears relatively balanced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Based on the available data, no recruiter demonstrates an extreme deviation in conversion rates that would indicate a significant performance gap.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Instead, hiring outcomes appear to be driven primarily by: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Candidate quality.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Source channel.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Candidate engagement.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Assessment performance.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This suggests that process improvements will likely have a greater impact than focusing solely on individual recruiter performance.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/>
        </p:nvSpPr>
        <p:spPr>
          <a:xfrm>
            <a:off x="539650" y="50600"/>
            <a:ext cx="7909200" cy="6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verage"/>
                <a:ea typeface="Average"/>
                <a:cs typeface="Average"/>
                <a:sym typeface="Average"/>
              </a:rPr>
              <a:t>Recommendations</a:t>
            </a:r>
            <a:endParaRPr b="1" sz="2000"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8" name="Google Shape;128;p24"/>
          <p:cNvSpPr txBox="1"/>
          <p:nvPr/>
        </p:nvSpPr>
        <p:spPr>
          <a:xfrm>
            <a:off x="303550" y="674600"/>
            <a:ext cx="8381400" cy="4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Prioritize high-performing sourcing channels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Increase investment in GitHub, Inbound, and Hunting, while reviewing the ROI of Events and Employee Referrals. Recruitment capacity should be allocated based on quality-of-hire rather than candidate volume.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Develop predictive candidate scoring</a:t>
            </a:r>
            <a:endParaRPr b="1"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 sz="1100"/>
              <a:t>Combine multiple indicators into an internal candidate score, including: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Source channel.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Years of experience.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Outreach response.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Technical assessment results.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Interview evaluations.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❏"/>
            </a:pPr>
            <a:r>
              <a:rPr b="1" lang="en" sz="1100"/>
              <a:t>Measure recruiter performance using normalized metrics</a:t>
            </a:r>
            <a:endParaRPr b="1"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Interview-to-offer conversion.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Offer acceptance rate.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Time-to-hire.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Candidate satisfaction.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Quality-of-hire.</a:t>
            </a:r>
            <a:endParaRPr sz="11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100"/>
              <a:t>Funnel conversion by recruiter.</a:t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/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